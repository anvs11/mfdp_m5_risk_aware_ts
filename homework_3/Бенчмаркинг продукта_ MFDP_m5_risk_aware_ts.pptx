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9144000" cy="16256000"/>
  <p:embeddedFontLst>
    <p:embeddedFont>
      <p:font typeface="微软雅黑" panose="020B0503020204020204" pitchFamily="34" charset="-122"/>
      <p:regular r:id="rId10"/>
      <p:bold r:id="rId11"/>
    </p:embeddedFont>
    <p:embeddedFont>
      <p:font typeface="Liter" panose="020B0604020202020204" charset="0"/>
      <p:regular r:id="rId12"/>
    </p:embeddedFont>
    <p:embeddedFont>
      <p:font typeface="Quattrocento Sans" panose="020B0502050000020003" pitchFamily="34" charset="0"/>
      <p:regular r:id="rId13"/>
      <p:bold r:id="rId14"/>
      <p:italic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58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16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2032000"/>
            <a:ext cx="1371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Бенчмаркинг продукта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70000" y="3429000"/>
            <a:ext cx="137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Определение стандартов через анализ конкурентов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223000" y="4318000"/>
            <a:ext cx="3810000" cy="25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4699000"/>
            <a:ext cx="137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 MFDP_m5_risk_aware_ts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778000" y="5588000"/>
            <a:ext cx="1270000" cy="330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55880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78000" y="60452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Точечные прогнозы не учитывают асимметричную цену ошибок для скоропорта: порча = 100% потерь, дефицит = упущенная маржа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78000" y="7061200"/>
            <a:ext cx="889000" cy="3302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1" name="Text 9"/>
          <p:cNvSpPr/>
          <p:nvPr/>
        </p:nvSpPr>
        <p:spPr>
          <a:xfrm>
            <a:off x="1778000" y="7061200"/>
            <a:ext cx="88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78000" y="7518400"/>
            <a:ext cx="1270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Определить минимальные требования и бенчмарки для конкурентоспособного прототипа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B7B8D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MFDP_m5_risk_aware_ts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113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Выбранные конкуренты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1B3A5C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532441"/>
              </p:ext>
            </p:extLst>
          </p:nvPr>
        </p:nvGraphicFramePr>
        <p:xfrm>
          <a:off x="762000" y="1270000"/>
          <a:ext cx="14732000" cy="4826001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1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133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Конкурент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Тип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Обоснование выбора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1C:Универсальное прогнозирование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 err="1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прямой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Массовое решение в РФ для малого/среднего ритейла. Закрывает ту же потребность (прогноз спроса) тем же способом (статистика + ML) для той же ЦА.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KORUS Forecast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 err="1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прямой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Облачный сервис для FMCG-ритейла. Прямой аналог по функционалу и ЦА, акцент на высокую точность и работу с сырыми данными.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RELEX Solutions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dirty="0" err="1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прямой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Глобальный лидер в retail forecasting. Показывает отраслевой стандарт точности, управления риском и работы с иерархией данных.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Excel + ручное планирование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u="none" kern="1200" dirty="0" err="1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косвенный</a:t>
                      </a:r>
                      <a:endParaRPr lang="en-US" sz="1400" u="none" kern="1200" dirty="0">
                        <a:solidFill>
                          <a:srgbClr val="D97706"/>
                        </a:solidFill>
                        <a:latin typeface="QuattrocentoSans" pitchFamily="34" charset="0"/>
                        <a:ea typeface="QuattrocentoSans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То, с чем реально конкурирует прототип на старте. Закрывает ту же потребность (планирование заказа), но иным способом (ручной труд).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477000"/>
            <a:ext cx="63500" cy="1016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3"/>
          <p:cNvSpPr/>
          <p:nvPr/>
        </p:nvSpPr>
        <p:spPr>
          <a:xfrm>
            <a:off x="1016000" y="6477000"/>
            <a:ext cx="2159000" cy="330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6477000"/>
            <a:ext cx="215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КЛЮЧЕВОЙ ВЫВОД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16000" y="6821466"/>
            <a:ext cx="1447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Все конкуренты используют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точечные прогнозы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ни один не предлагает явное управление риском через персентили — это наше окно возможности.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B7B8D">
              <a:alpha val="30196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MFDP_m5_risk_aware_ts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113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Анализ болей и возможностей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7048500" cy="292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048500" cy="4572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333500"/>
            <a:ext cx="666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 Что хвалят у конкурентов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1968500"/>
            <a:ext cx="6667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b="1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Точность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прогнозов</a:t>
            </a:r>
            <a:r>
              <a:rPr lang="ru-RU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b="1" dirty="0"/>
              <a:t>(1 − WAPE)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—  80–92% у лидеров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Интеграция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с 1C, ERP, WMS из коробки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Экспертная поддержка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помощь в настройке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Масштабируемость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от 1 до 1000+ магазинов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64500" y="1333500"/>
            <a:ext cx="7429500" cy="292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064500" y="1333500"/>
            <a:ext cx="74295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8255000" y="1333500"/>
            <a:ext cx="704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 Что критикуют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55000" y="1968500"/>
            <a:ext cx="7048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Сложный интерфейс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(1C) — требует обучения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Высокая цена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(RELEX) — недоступно для малого бизнеса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Ошибки в формулах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(Excel) — нет контроля версий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Нет управления риском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(все) — только точечные прогнозы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35500"/>
            <a:ext cx="63500" cy="165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4635500"/>
            <a:ext cx="3556000" cy="381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635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НАША ТОЧКА ВХОДА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6000" y="5143500"/>
            <a:ext cx="1447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Простой интерфейс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(Streamlit) +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квантильный прогноз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с интерпретацией риска = уникальное предложение на рынке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Гипотеза: асимметричная функция потерь через выбор перцентиля α снижает бизнес-потери от порчи скоропорта на ≥10%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B7B8D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MFDP_m5_risk_aware_ts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113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Наше УТП и минимальные требования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270000"/>
            <a:ext cx="3556000" cy="3556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КЛЮЧЕВЫЕ ПРЕИМУЩЕСТВА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1778000"/>
            <a:ext cx="3429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778000"/>
            <a:ext cx="50800" cy="13970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8" name="Text 6"/>
          <p:cNvSpPr/>
          <p:nvPr/>
        </p:nvSpPr>
        <p:spPr>
          <a:xfrm>
            <a:off x="965200" y="18796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Асимметричная функция потерь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риском через выбор перцентиля α под тип товара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1500" y="1778000"/>
            <a:ext cx="3429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81500" y="1778000"/>
            <a:ext cx="50800" cy="13970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1" name="Text 9"/>
          <p:cNvSpPr/>
          <p:nvPr/>
        </p:nvSpPr>
        <p:spPr>
          <a:xfrm>
            <a:off x="4584700" y="18796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Интерпретируемость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«Заказ: X шт. (риск порчи: низкий)» — не просто число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365500"/>
            <a:ext cx="3429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3365500"/>
            <a:ext cx="50800" cy="13970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" y="34671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Простота внедрения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Запуск за 1 день, без обучения и доработок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1500" y="3365500"/>
            <a:ext cx="3429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1500" y="3365500"/>
            <a:ext cx="50800" cy="13970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17" name="Text 15"/>
          <p:cNvSpPr/>
          <p:nvPr/>
        </p:nvSpPr>
        <p:spPr>
          <a:xfrm>
            <a:off x="4584700" y="3467100"/>
            <a:ext cx="304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Воспроизводимость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DVC + MLflow — любой результат по хешу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1270000"/>
            <a:ext cx="4064000" cy="3556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1270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MUST-HAVE ФУНКЦИИ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82000" y="1778000"/>
            <a:ext cx="7112000" cy="2984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0" y="1968500"/>
            <a:ext cx="660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Прогноз: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товар × магазин × день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Учёт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промо и сезонности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Экспорт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/ Excel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Визуализация с </a:t>
            </a: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интервалами неопределённости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Гибкий горизонт: 7 дней (скоропорт) / 28 дней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207000"/>
            <a:ext cx="63500" cy="762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207000"/>
            <a:ext cx="1447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Связь с гипотезой: каждая функция работает на проверку «асимметрия снижает потери» — от выбора α до интерпретации риска в заказе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B7B8D">
              <a:alpha val="3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MFDP_m5_risk_aware_ts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113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Бенчмарки — целевые ориентиры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1B3A5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270000"/>
          <a:ext cx="14732000" cy="4826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62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Тип метрики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Бенчмарк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Обоснование / Источник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825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Технические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WRMSSE ≤ 0.95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Официальный baseline M5; улучшение относительно Seasonal Naive ≈ 1.0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8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MAPE / WAPE ≥ 75%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Отраслевой стандарт для коротких горизонтов (неделя–две)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8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Время инференса ≤ 2 сек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Быстрее 1C (минуты), сопоставимо с облачными решениями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825">
                <a:tc rowSpan="3"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Продуктовые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Снижение потерь ≥ 10%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Наша гипотеза + бенчмарк Coop (RELEX): снижение списаний 15–30%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8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Fill Rate ≥ 95%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Отраслевой SLA для ключевых категорий скоропорта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482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Покрытие интервала 78–82%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Признак хорошо откалиброванной вероятностной модели (80% интервал)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7426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Бизнес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Цена ≤ $200/мес; внедрение ≤ 1 неделя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Дешевле enterprise (RELEX), быстрее 1C/RELEX (месяцы)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413500"/>
            <a:ext cx="63500" cy="762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3"/>
          <p:cNvSpPr/>
          <p:nvPr/>
        </p:nvSpPr>
        <p:spPr>
          <a:xfrm>
            <a:off x="1020871" y="6642100"/>
            <a:ext cx="44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97000" y="6604000"/>
            <a:ext cx="139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i="1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Бенчмарки являются целевыми ориентирами для прототипа; фактические значения будут уточнены после валидации на тестовых данных.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B7B8D">
              <a:alpha val="30196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MFDP_m5_risk_aware_ts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113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Модель монетизации и дорожная карта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33500"/>
            <a:ext cx="45720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4572000" cy="4572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333500"/>
            <a:ext cx="419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ПРОТОТИП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1968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$0.01 / прогноз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2500" y="2540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Usage-based модель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Низкий порог входа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Легко тестировать гипотезу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Платишь только за использование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24500" y="1333500"/>
            <a:ext cx="45720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524500" y="1333500"/>
            <a:ext cx="457200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0" y="1333500"/>
            <a:ext cx="4191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МАСШТАБИРОВАНИЕ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15000" y="1968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$50–200 / мес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5000" y="25400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SaaS-подписка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Предсказуемый доход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Соответствует модели KORUS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Дешевле enterprise-решений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287000" y="1333500"/>
            <a:ext cx="5207000" cy="304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87000" y="1333500"/>
            <a:ext cx="5207000" cy="457200"/>
          </a:xfrm>
          <a:prstGeom prst="rect">
            <a:avLst/>
          </a:prstGeom>
          <a:solidFill>
            <a:srgbClr val="6B7B8D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0" y="1333500"/>
            <a:ext cx="482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77500" y="1968500"/>
            <a:ext cx="482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 запросу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77500" y="2540000"/>
            <a:ext cx="482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Годовая лицензия + поддержка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SLA и интеграция с ERP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Для крупных сетей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Пилот перед контрактом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762500"/>
            <a:ext cx="2540000" cy="3556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4762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СЛЕДУЮЩИЕ ШАГИ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334000"/>
            <a:ext cx="4318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5334000"/>
            <a:ext cx="4318000" cy="635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" y="55245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EDA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Анализ данных M5, поиск паттернов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07000" y="5715000"/>
            <a:ext cx="381000" cy="0"/>
          </a:xfrm>
          <a:prstGeom prst="straightConnector1">
            <a:avLst/>
          </a:prstGeom>
          <a:noFill/>
          <a:ln w="25400">
            <a:solidFill>
              <a:srgbClr val="1B3A5C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715000" y="5334000"/>
            <a:ext cx="4318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715000" y="5334000"/>
            <a:ext cx="4318000" cy="6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5905500" y="5524500"/>
            <a:ext cx="393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Моделирование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Квантильные модели, валидация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160000" y="5715000"/>
            <a:ext cx="381000" cy="0"/>
          </a:xfrm>
          <a:prstGeom prst="straightConnector1">
            <a:avLst/>
          </a:prstGeom>
          <a:noFill/>
          <a:ln w="25400">
            <a:solidFill>
              <a:srgbClr val="1B3A5C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0668000" y="5334000"/>
            <a:ext cx="4826000" cy="1016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668000" y="5334000"/>
            <a:ext cx="4826000" cy="6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10858500" y="55245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Демо в Streamlit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7B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Прототип + бенчмаркинг метрик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B7B8D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MFDP_m5_risk_aware_ts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5113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63500" cy="1270000"/>
          </a:xfrm>
          <a:prstGeom prst="rect">
            <a:avLst/>
          </a:prstGeom>
          <a:solidFill>
            <a:srgbClr val="2D8A4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8A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95500"/>
            <a:ext cx="1447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Бенчмаркинг показал: требования к продукту стали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определёнными и обоснованными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мы знаем, какими метриками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должны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измеряться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прототипа.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3238500"/>
            <a:ext cx="63500" cy="1270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2385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1B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683000"/>
            <a:ext cx="1447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Ключевой инсайт: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даже лидер рынка (Walmart) инвестирует в квантильное прогнозирование — это подтверждает актуальность нашей гипотезы об асимметричных потерях.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62000" y="4826000"/>
            <a:ext cx="63500" cy="127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4826000"/>
            <a:ext cx="6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270500"/>
            <a:ext cx="1447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Готовы перейти к этапу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анализа данных и </a:t>
            </a:r>
            <a:r>
              <a:rPr lang="en-US" sz="1800" b="1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проверки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гипотезы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6B7B8D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8763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MFDP_m5_risk_aware_ts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113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B7B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801</Words>
  <Application>Microsoft Office PowerPoint</Application>
  <PresentationFormat>Произвольный</PresentationFormat>
  <Paragraphs>133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Quattrocento Sans</vt:lpstr>
      <vt:lpstr>Liter</vt:lpstr>
      <vt:lpstr>Arial</vt:lpstr>
      <vt:lpstr>微软雅黑</vt:lpstr>
      <vt:lpstr>QuattrocentoSans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Бенчмаркинг продукта: MFDP_m5_risk_aware_ts</dc:title>
  <dc:subject>Бенчмаркинг продукта: MFDP_m5_risk_aware_ts</dc:subject>
  <dc:creator>Kimi</dc:creator>
  <cp:lastModifiedBy>Вячеслав Андреев</cp:lastModifiedBy>
  <cp:revision>6</cp:revision>
  <dcterms:created xsi:type="dcterms:W3CDTF">2026-05-10T19:11:03Z</dcterms:created>
  <dcterms:modified xsi:type="dcterms:W3CDTF">2026-05-11T09:24:09Z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{"Label":"Бенчмаркинг продукта: MFDP_m5_risk_aware_ts","ContentProducer":"001191110108MACG2KBH8F10000","ProduceID":"19e134b3-d902-8a7a-8000-00009b4c67a9","ReservedCode1":"","ContentPropagator":"001191110108MACG2KBH8F20000","PropagateID":"19e134b3-d902-8a7a-8000-00009b4c67a9","ReservedCode2":""}</vt:lpwstr>
  </property>
</Properties>
</file>